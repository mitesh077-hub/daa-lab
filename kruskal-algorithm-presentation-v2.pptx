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188720" y="1463040"/>
            <a:ext cx="2926080" cy="41148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GRAPH THEORY &amp; C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103120"/>
            <a:ext cx="9601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Georgia"/>
              </a:defRPr>
            </a:pPr>
            <a:r>
              <a:t>Kruskal’s Algorithm for Minimum Spanning Trees</a:t>
            </a:r>
          </a:p>
          <a:p>
            <a:pPr>
              <a:spcBef>
                <a:spcPts val="1400"/>
              </a:spcBef>
              <a:defRPr sz="1800">
                <a:solidFill>
                  <a:srgbClr val="94A3B8"/>
                </a:solidFill>
                <a:latin typeface="Arial"/>
              </a:defRPr>
            </a:pPr>
            <a:r>
              <a:t>Greedy Edge Selection, Cycle Detection via Disjoint Sets, and C Code Mechanics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4937760"/>
            <a:ext cx="9601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Arial"/>
              </a:defRPr>
            </a:pPr>
            <a:r>
              <a:rPr lang="en-IN" sz="1600" dirty="0">
                <a:latin typeface="Georgia"/>
              </a:rPr>
              <a:t>• Connected Weighted Undirected Graphs </a:t>
            </a:r>
          </a:p>
          <a:p>
            <a:pPr>
              <a:defRPr sz="1300">
                <a:solidFill>
                  <a:srgbClr val="64748B"/>
                </a:solidFill>
                <a:latin typeface="Arial"/>
              </a:defRPr>
            </a:pPr>
            <a:r>
              <a:rPr sz="1600" dirty="0">
                <a:latin typeface="Georgia"/>
              </a:rPr>
              <a:t>Prepared by: Mitesh Dawale | PRN: 25070521025 SEC 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KRUSKAL'S ALGORITHM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Minimum Spanning Trees Connect All Vertices at Lowest Total Cost Without Cycles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0728655" cy="25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Georgia"/>
              </a:defRPr>
            </a:pPr>
            <a:r>
              <a:t>The Minimum Spanning Tree Problem</a:t>
            </a:r>
          </a:p>
          <a:p>
            <a:pPr>
              <a:spcBef>
                <a:spcPts val="1200"/>
              </a:spcBef>
            </a:pPr>
            <a:r>
              <a:rPr sz="1400" b="1">
                <a:solidFill>
                  <a:srgbClr val="0284C7"/>
                </a:solidFill>
              </a:rPr>
              <a:t>• Real-World Analogy: </a:t>
            </a:r>
            <a:r>
              <a:rPr sz="1400">
                <a:solidFill>
                  <a:srgbClr val="0F172A"/>
                </a:solidFill>
              </a:rPr>
              <a:t>Connecting cities with roads or telecommunication lines at minimum construction cost.</a:t>
            </a:r>
          </a:p>
          <a:p>
            <a:pPr>
              <a:spcBef>
                <a:spcPts val="1200"/>
              </a:spcBef>
            </a:pPr>
            <a:r>
              <a:rPr sz="1400" b="1">
                <a:solidFill>
                  <a:srgbClr val="0284C7"/>
                </a:solidFill>
              </a:rPr>
              <a:t>• Definition: </a:t>
            </a:r>
            <a:r>
              <a:rPr sz="1400">
                <a:solidFill>
                  <a:srgbClr val="0F172A"/>
                </a:solidFill>
              </a:rPr>
              <a:t>A subgraph of a connected, weighted, undirected graph that connects all V vertices using exactly V - 1 edges.</a:t>
            </a:r>
          </a:p>
          <a:p>
            <a:pPr>
              <a:spcBef>
                <a:spcPts val="1200"/>
              </a:spcBef>
            </a:pPr>
            <a:r>
              <a:rPr sz="1400" b="1">
                <a:solidFill>
                  <a:srgbClr val="0284C7"/>
                </a:solidFill>
              </a:rPr>
              <a:t>• Zero Cycles Allowed: </a:t>
            </a:r>
            <a:r>
              <a:rPr sz="1400">
                <a:solidFill>
                  <a:srgbClr val="0F172A"/>
                </a:solidFill>
              </a:rPr>
              <a:t>Adding any extra edge creates a closed cycle, wasting cost and violating tree structure.</a:t>
            </a:r>
          </a:p>
          <a:p>
            <a:pPr>
              <a:spcBef>
                <a:spcPts val="1200"/>
              </a:spcBef>
            </a:pPr>
            <a:r>
              <a:rPr sz="1400" b="1">
                <a:solidFill>
                  <a:srgbClr val="0284C7"/>
                </a:solidFill>
              </a:rPr>
              <a:t>• Minimization Goal: </a:t>
            </a:r>
            <a:r>
              <a:rPr sz="1400">
                <a:solidFill>
                  <a:srgbClr val="0F172A"/>
                </a:solidFill>
              </a:rPr>
              <a:t>Find a subset of edges that minimizes the sum of edge weights: Sum(W_i) = Minimum.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37360"/>
            <a:ext cx="52120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192024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Georgia"/>
              </a:defRPr>
            </a:pPr>
            <a:r>
              <a:t>Key Structural Rules for MST</a:t>
            </a:r>
          </a:p>
          <a:p>
            <a:pPr>
              <a:spcBef>
                <a:spcPts val="1400"/>
              </a:spcBef>
            </a:pPr>
            <a:r>
              <a:rPr sz="1800" b="1">
                <a:solidFill>
                  <a:srgbClr val="0369A1"/>
                </a:solidFill>
              </a:rPr>
              <a:t>V - 1 Edges
</a:t>
            </a:r>
            <a:r>
              <a:rPr sz="1300">
                <a:solidFill>
                  <a:srgbClr val="475569"/>
                </a:solidFill>
              </a:rPr>
              <a:t>Exact number of edges required to connect V vertices in any tree.</a:t>
            </a:r>
          </a:p>
          <a:p>
            <a:pPr>
              <a:spcBef>
                <a:spcPts val="1400"/>
              </a:spcBef>
            </a:pPr>
            <a:r>
              <a:rPr sz="1800" b="1">
                <a:solidFill>
                  <a:srgbClr val="0369A1"/>
                </a:solidFill>
              </a:rPr>
              <a:t>No Cycles
</a:t>
            </a:r>
            <a:r>
              <a:rPr sz="1300">
                <a:solidFill>
                  <a:srgbClr val="475569"/>
                </a:solidFill>
              </a:rPr>
              <a:t>Every pair of vertices must have exactly one unique path.</a:t>
            </a:r>
          </a:p>
          <a:p>
            <a:pPr>
              <a:spcBef>
                <a:spcPts val="1400"/>
              </a:spcBef>
            </a:pPr>
            <a:r>
              <a:rPr sz="1800" b="1">
                <a:solidFill>
                  <a:srgbClr val="0369A1"/>
                </a:solidFill>
              </a:rPr>
              <a:t>Greedy Choice
</a:t>
            </a:r>
            <a:r>
              <a:rPr sz="1300">
                <a:solidFill>
                  <a:srgbClr val="475569"/>
                </a:solidFill>
              </a:rPr>
              <a:t>Locally picking the cheapest available edge leads to a global optimum.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KRUSKAL'S ALGORITHM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Greedy Edge Selection Sorts Weights and Avoids Cycles via Disjoint Sets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0728655" cy="25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2468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920240"/>
            <a:ext cx="2194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STEP 1</a:t>
            </a:r>
          </a:p>
          <a:p>
            <a:pPr>
              <a:spcBef>
                <a:spcPts val="800"/>
              </a:spcBef>
              <a:defRPr sz="1800" b="1">
                <a:solidFill>
                  <a:srgbClr val="0F172A"/>
                </a:solidFill>
                <a:latin typeface="Georgia"/>
              </a:defRPr>
            </a:pPr>
            <a:r>
              <a:t>Sort All Edges</a:t>
            </a:r>
          </a:p>
          <a:p>
            <a:pPr>
              <a:spcBef>
                <a:spcPts val="1400"/>
              </a:spcBef>
              <a:defRPr sz="1300">
                <a:solidFill>
                  <a:srgbClr val="475569"/>
                </a:solidFill>
              </a:defRPr>
            </a:pPr>
            <a:r>
              <a:t>Arrange all graph edges in non-decreasing (ascending) order of weight.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737360"/>
            <a:ext cx="2468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11880" y="1920240"/>
            <a:ext cx="2194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STEP 2</a:t>
            </a:r>
          </a:p>
          <a:p>
            <a:pPr>
              <a:spcBef>
                <a:spcPts val="800"/>
              </a:spcBef>
              <a:defRPr sz="1800" b="1">
                <a:solidFill>
                  <a:srgbClr val="0F172A"/>
                </a:solidFill>
                <a:latin typeface="Georgia"/>
              </a:defRPr>
            </a:pPr>
            <a:r>
              <a:t>Select Cheapest</a:t>
            </a:r>
          </a:p>
          <a:p>
            <a:pPr>
              <a:spcBef>
                <a:spcPts val="1400"/>
              </a:spcBef>
              <a:defRPr sz="1300">
                <a:solidFill>
                  <a:srgbClr val="475569"/>
                </a:solidFill>
              </a:defRPr>
            </a:pPr>
            <a:r>
              <a:t>Pick the edge with the smallest weight from the sorted candidate pool.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37360"/>
            <a:ext cx="2468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55080" y="1920240"/>
            <a:ext cx="2194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STEP 3</a:t>
            </a:r>
          </a:p>
          <a:p>
            <a:pPr>
              <a:spcBef>
                <a:spcPts val="800"/>
              </a:spcBef>
              <a:defRPr sz="1800" b="1">
                <a:solidFill>
                  <a:srgbClr val="0F172A"/>
                </a:solidFill>
                <a:latin typeface="Georgia"/>
              </a:defRPr>
            </a:pPr>
            <a:r>
              <a:t>Cycle Check</a:t>
            </a:r>
          </a:p>
          <a:p>
            <a:pPr>
              <a:spcBef>
                <a:spcPts val="1400"/>
              </a:spcBef>
              <a:defRPr sz="1300">
                <a:solidFill>
                  <a:srgbClr val="475569"/>
                </a:solidFill>
              </a:defRPr>
            </a:pPr>
            <a:r>
              <a:t>Check if endpoints belong to the same component using Disjoint Set Find.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737360"/>
            <a:ext cx="2468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098280" y="1920240"/>
            <a:ext cx="2194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STEP 4</a:t>
            </a:r>
          </a:p>
          <a:p>
            <a:pPr>
              <a:spcBef>
                <a:spcPts val="800"/>
              </a:spcBef>
              <a:defRPr sz="1800" b="1">
                <a:solidFill>
                  <a:srgbClr val="0F172A"/>
                </a:solidFill>
                <a:latin typeface="Georgia"/>
              </a:defRPr>
            </a:pPr>
            <a:r>
              <a:t>Include / Skip</a:t>
            </a:r>
          </a:p>
          <a:p>
            <a:pPr>
              <a:spcBef>
                <a:spcPts val="1400"/>
              </a:spcBef>
              <a:defRPr sz="1300">
                <a:solidFill>
                  <a:srgbClr val="475569"/>
                </a:solidFill>
              </a:defRPr>
            </a:pPr>
            <a:r>
              <a:t>If no cycle, add edge to MST and Union sets. If cycle, discard edge.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KRUSKAL'S ALGORITHM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Step-by-Step Example Demonstrates Edge Inclusion and Cycle Rejection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0728655" cy="25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8404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Georgia"/>
              </a:defRPr>
            </a:pPr>
            <a:r>
              <a:t>5-Node Graph Setup</a:t>
            </a:r>
          </a:p>
          <a:p>
            <a:pPr>
              <a:spcBef>
                <a:spcPts val="1000"/>
              </a:spcBef>
            </a:pPr>
            <a:r>
              <a:rPr sz="1300" b="1">
                <a:solidFill>
                  <a:srgbClr val="0284C7"/>
                </a:solidFill>
              </a:rPr>
              <a:t>• Vertices (V): </a:t>
            </a:r>
            <a:r>
              <a:rPr sz="1300">
                <a:solidFill>
                  <a:srgbClr val="0F172A"/>
                </a:solidFill>
              </a:rPr>
              <a:t>5 nodes (0, 1, 2, 3, 4)</a:t>
            </a:r>
          </a:p>
          <a:p>
            <a:pPr>
              <a:spcBef>
                <a:spcPts val="1000"/>
              </a:spcBef>
            </a:pPr>
            <a:r>
              <a:rPr sz="1300" b="1">
                <a:solidFill>
                  <a:srgbClr val="0284C7"/>
                </a:solidFill>
              </a:rPr>
              <a:t>• Edges (E): </a:t>
            </a:r>
            <a:r>
              <a:rPr sz="1300">
                <a:solidFill>
                  <a:srgbClr val="0F172A"/>
                </a:solidFill>
              </a:rPr>
              <a:t>Candidate weights: 1, 2, 3, 4, 5</a:t>
            </a:r>
          </a:p>
          <a:p>
            <a:pPr>
              <a:spcBef>
                <a:spcPts val="1000"/>
              </a:spcBef>
            </a:pPr>
            <a:r>
              <a:rPr sz="1300" b="1">
                <a:solidFill>
                  <a:srgbClr val="0284C7"/>
                </a:solidFill>
              </a:rPr>
              <a:t>• Target Edges: </a:t>
            </a:r>
            <a:r>
              <a:rPr sz="1300">
                <a:solidFill>
                  <a:srgbClr val="0F172A"/>
                </a:solidFill>
              </a:rPr>
              <a:t>V - 1 = 4 edges needed</a:t>
            </a:r>
          </a:p>
          <a:p>
            <a:pPr>
              <a:spcBef>
                <a:spcPts val="1000"/>
              </a:spcBef>
            </a:pPr>
            <a:r>
              <a:rPr sz="1300" b="1">
                <a:solidFill>
                  <a:srgbClr val="0284C7"/>
                </a:solidFill>
              </a:rPr>
              <a:t>• Key Event: </a:t>
            </a:r>
            <a:r>
              <a:rPr sz="1300">
                <a:solidFill>
                  <a:srgbClr val="0F172A"/>
                </a:solidFill>
              </a:rPr>
              <a:t>Weight 4 connects vertices already joined, creating a cycle. It is explicitly skipped!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846320" y="1737360"/>
          <a:ext cx="658368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Step</a:t>
                      </a:r>
                    </a:p>
                  </a:txBody>
                  <a:tcPr marT="50800" marB="5080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Edge (u, v)</a:t>
                      </a:r>
                    </a:p>
                  </a:txBody>
                  <a:tcPr marT="50800" marB="5080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Weight</a:t>
                      </a:r>
                    </a:p>
                  </a:txBody>
                  <a:tcPr marT="50800" marB="5080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Cycle Check</a:t>
                      </a:r>
                    </a:p>
                  </a:txBody>
                  <a:tcPr marT="50800" marB="5080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Action / Status</a:t>
                      </a:r>
                    </a:p>
                  </a:txBody>
                  <a:tcPr marT="50800" marB="50800"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marT="38100" marB="381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(0, 1)</a:t>
                      </a:r>
                    </a:p>
                  </a:txBody>
                  <a:tcPr marT="38100" marB="381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marT="38100" marB="381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No Cycle</a:t>
                      </a:r>
                    </a:p>
                  </a:txBody>
                  <a:tcPr marT="38100" marB="381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ADDED to MST</a:t>
                      </a:r>
                    </a:p>
                  </a:txBody>
                  <a:tcPr marT="38100" marB="38100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(1, 2)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No Cycle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ADDED to MST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marT="38100" marB="381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(2, 3)</a:t>
                      </a:r>
                    </a:p>
                  </a:txBody>
                  <a:tcPr marT="38100" marB="381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marT="38100" marB="381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No Cycle</a:t>
                      </a:r>
                    </a:p>
                  </a:txBody>
                  <a:tcPr marT="38100" marB="381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ADDED to MST</a:t>
                      </a:r>
                    </a:p>
                  </a:txBody>
                  <a:tcPr marT="38100" marB="38100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marT="38100" marB="38100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(0, 2)</a:t>
                      </a:r>
                    </a:p>
                  </a:txBody>
                  <a:tcPr marT="38100" marB="38100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marT="38100" marB="38100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CYCLE DETECTED!</a:t>
                      </a:r>
                    </a:p>
                  </a:txBody>
                  <a:tcPr marT="38100" marB="38100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EF4444"/>
                          </a:solidFill>
                        </a:defRPr>
                      </a:pPr>
                      <a:r>
                        <a:t>REJECTED / SKIPPED</a:t>
                      </a:r>
                    </a:p>
                  </a:txBody>
                  <a:tcPr marT="38100" marB="38100">
                    <a:solidFill>
                      <a:srgbClr val="FE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marT="38100" marB="381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(0, 4)</a:t>
                      </a:r>
                    </a:p>
                  </a:txBody>
                  <a:tcPr marT="38100" marB="381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marT="38100" marB="381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No Cycle</a:t>
                      </a:r>
                    </a:p>
                  </a:txBody>
                  <a:tcPr marT="38100" marB="381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ADDED to MST</a:t>
                      </a:r>
                    </a:p>
                  </a:txBody>
                  <a:tcPr marT="38100" marB="38100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846320" y="5532120"/>
            <a:ext cx="6583680" cy="685800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Final Minimum Spanning Tree Cost = 1 + 2 + 3 + 5 = 11  (Edges = 4)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KRUSKAL'S ALGORITHM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Disjoint Set Union (DSU) Enables Efficient Cycle Detection in C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0728655" cy="25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669280" cy="44805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303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8BDF8"/>
                </a:solidFill>
                <a:latin typeface="Consolas"/>
              </a:defRPr>
            </a:pPr>
            <a:r>
              <a:t>// Disjoint Set Find with Path Compression</a:t>
            </a:r>
            <a:br/>
            <a:r>
              <a:t>int find(int parent[], int i) {</a:t>
            </a:r>
            <a:br/>
            <a:r>
              <a:t>    if (parent[i] != i) {</a:t>
            </a:r>
            <a:br/>
            <a:r>
              <a:t>        parent[i] = find(parent, parent[i]);</a:t>
            </a:r>
            <a:br/>
            <a:r>
              <a:t>    }</a:t>
            </a:r>
            <a:br/>
            <a:r>
              <a:t>    return parent[i];</a:t>
            </a:r>
            <a:br/>
            <a:r>
              <a:t>}</a:t>
            </a:r>
            <a:br/>
            <a:br/>
            <a:r>
              <a:t>// Disjoint Set Union by Rank</a:t>
            </a:r>
            <a:br/>
            <a:r>
              <a:t>void union1(int parent[], int rank[], int i, int j) {</a:t>
            </a:r>
            <a:br/>
            <a:r>
              <a:t>    int iroot = find(parent, i);</a:t>
            </a:r>
            <a:br/>
            <a:r>
              <a:t>    int jroot = find(parent, j);</a:t>
            </a:r>
            <a:br/>
            <a:r>
              <a:t>    if (iroot == jroot) return; // Cycle!</a:t>
            </a:r>
            <a:br/>
            <a:br/>
            <a:r>
              <a:t>    if (rank[iroot] &lt; rank[jroot])</a:t>
            </a:r>
            <a:br/>
            <a:r>
              <a:t>        parent[iroot] = jroot;</a:t>
            </a:r>
            <a:br/>
            <a:r>
              <a:t>    else if (rank[iroot] &gt; rank[jroot])</a:t>
            </a:r>
            <a:br/>
            <a:r>
              <a:t>        parent[jroot] = iroot;</a:t>
            </a:r>
            <a:br/>
            <a:r>
              <a:t>    else {</a:t>
            </a:r>
            <a:br/>
            <a:r>
              <a:t>        parent[jroot] = iroot;</a:t>
            </a:r>
            <a:br/>
            <a:r>
              <a:t>        rank[iroot]++;</a:t>
            </a:r>
            <a:br/>
            <a:r>
              <a:t>    }</a:t>
            </a:r>
            <a:br/>
            <a:r>
              <a:t>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737360"/>
            <a:ext cx="47548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0" y="1920240"/>
            <a:ext cx="4389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Georgia"/>
              </a:defRPr>
            </a:pPr>
            <a:r>
              <a:t>C Mechanics &amp; Data Structures</a:t>
            </a:r>
          </a:p>
          <a:p>
            <a:pPr>
              <a:spcBef>
                <a:spcPts val="1000"/>
              </a:spcBef>
            </a:pPr>
            <a:r>
              <a:rPr sz="1300" b="1">
                <a:solidFill>
                  <a:srgbClr val="0284C7"/>
                </a:solidFill>
              </a:rPr>
              <a:t>• Path Compression: </a:t>
            </a:r>
            <a:r>
              <a:rPr sz="1300">
                <a:solidFill>
                  <a:srgbClr val="0F172A"/>
                </a:solidFill>
              </a:rPr>
              <a:t>Flattens the tree during find(), making future queries nearly O(1) time.</a:t>
            </a:r>
          </a:p>
          <a:p>
            <a:pPr>
              <a:spcBef>
                <a:spcPts val="1000"/>
              </a:spcBef>
            </a:pPr>
            <a:r>
              <a:rPr sz="1300" b="1">
                <a:solidFill>
                  <a:srgbClr val="0284C7"/>
                </a:solidFill>
              </a:rPr>
              <a:t>• Union by Rank: </a:t>
            </a:r>
            <a:r>
              <a:rPr sz="1300">
                <a:solidFill>
                  <a:srgbClr val="0F172A"/>
                </a:solidFill>
              </a:rPr>
              <a:t>Attaches smaller tree under root of larger tree to keep tree height balanced.</a:t>
            </a:r>
          </a:p>
          <a:p>
            <a:pPr>
              <a:spcBef>
                <a:spcPts val="1000"/>
              </a:spcBef>
            </a:pPr>
            <a:r>
              <a:rPr sz="1300" b="1">
                <a:solidFill>
                  <a:srgbClr val="0284C7"/>
                </a:solidFill>
              </a:rPr>
              <a:t>• Cycle Guard: </a:t>
            </a:r>
            <a:r>
              <a:rPr sz="1300">
                <a:solidFill>
                  <a:srgbClr val="0F172A"/>
                </a:solidFill>
              </a:rPr>
              <a:t>If find(u) == find(v), endpoints are already in the same tree component — adding edge (u, v) creates a cycle!</a:t>
            </a:r>
          </a:p>
          <a:p>
            <a:pPr>
              <a:spcBef>
                <a:spcPts val="1000"/>
              </a:spcBef>
            </a:pPr>
            <a:r>
              <a:rPr sz="1300" b="1">
                <a:solidFill>
                  <a:srgbClr val="0284C7"/>
                </a:solidFill>
              </a:rPr>
              <a:t>• Matrix Conversion: </a:t>
            </a:r>
            <a:r>
              <a:rPr sz="1300">
                <a:solidFill>
                  <a:srgbClr val="0F172A"/>
                </a:solidFill>
              </a:rPr>
              <a:t>The C driver reads an adjacency matrix and extracts upper triangular edges for sorting.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KRUSKAL'S ALGORITHM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Kruskal’s Algorithm Guarantees Optimal O(E log E) Time Efficiency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0728655" cy="25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291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874519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369A1"/>
                </a:solidFill>
              </a:defRPr>
            </a:pPr>
            <a:r>
              <a:t>O(E log E)</a:t>
            </a:r>
          </a:p>
          <a:p>
            <a:pPr>
              <a:defRPr sz="1400" b="1">
                <a:solidFill>
                  <a:srgbClr val="0F172A"/>
                </a:solidFill>
              </a:defRPr>
            </a:pPr>
            <a:r>
              <a:t>Time Complexity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</a:defRPr>
            </a:pPr>
            <a:r>
              <a:t>Dominated by sorting E edges; DSU operations take near O(1) 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737360"/>
            <a:ext cx="3291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26280" y="1874519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369A1"/>
                </a:solidFill>
              </a:defRPr>
            </a:pPr>
            <a:r>
              <a:t>O(V + E)</a:t>
            </a:r>
          </a:p>
          <a:p>
            <a:pPr>
              <a:defRPr sz="1400" b="1">
                <a:solidFill>
                  <a:srgbClr val="0F172A"/>
                </a:solidFill>
              </a:defRPr>
            </a:pPr>
            <a:r>
              <a:t>Space Complexity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</a:defRPr>
            </a:pPr>
            <a:r>
              <a:t>Parent &amp; rank arrays require O(V), edge list storage requires O(E).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737360"/>
            <a:ext cx="3291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83880" y="1874519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369A1"/>
                </a:solidFill>
              </a:defRPr>
            </a:pPr>
            <a:r>
              <a:t>Greedy Choice</a:t>
            </a:r>
          </a:p>
          <a:p>
            <a:pPr>
              <a:defRPr sz="1400" b="1">
                <a:solidFill>
                  <a:srgbClr val="0F172A"/>
                </a:solidFill>
              </a:defRPr>
            </a:pPr>
            <a:r>
              <a:t>Optimality Proof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</a:defRPr>
            </a:pPr>
            <a:r>
              <a:t>Matroid theory guarantees locally optimal edge choices yield global MST.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23360"/>
            <a:ext cx="10728655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4160520"/>
            <a:ext cx="101498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Georgia"/>
              </a:defRPr>
            </a:pPr>
            <a:r>
              <a:t>Summary &amp; Best Practices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1. Always process edges in strictly non-decreasing order of weight to maintain greedy choice property.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2. Always utilize Disjoint Set Union (DSU) with path compression for optimal O(alpha(V)) cycle testing.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3. Kruskal's algorithm is especially preferred for sparse graphs where E &lt;&lt; V^2.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899</Words>
  <Application>Microsoft Office PowerPoint</Application>
  <PresentationFormat>Widescreen</PresentationFormat>
  <Paragraphs>91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Mitesh Dawale</cp:lastModifiedBy>
  <cp:revision>2</cp:revision>
  <dcterms:created xsi:type="dcterms:W3CDTF">2013-01-27T09:14:16Z</dcterms:created>
  <dcterms:modified xsi:type="dcterms:W3CDTF">2026-10-20T13:37:43Z</dcterms:modified>
  <cp:category/>
</cp:coreProperties>
</file>